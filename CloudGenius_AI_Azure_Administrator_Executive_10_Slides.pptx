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49E1D5"/>
          </a:solidFill>
          <a:ln w="12700">
            <a:solidFill>
              <a:srgbClr val="49E1D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667512"/>
            <a:ext cx="100584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spc="120" kern="0" dirty="0">
                <a:solidFill>
                  <a:srgbClr val="49E1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CLOUDGENIUS  /  VERIFIED TECHNICAL CASE STUDY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49808" y="1362456"/>
            <a:ext cx="100584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AZURE</a:t>
            </a:r>
            <a:endParaRPr lang="en-US" sz="5100" dirty="0"/>
          </a:p>
          <a:p>
            <a:pPr algn="l" indent="0" marL="0">
              <a:buNone/>
            </a:pPr>
            <a:r>
              <a:rPr lang="en-US" sz="5100" b="1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ADMINISTRATOR</a:t>
            </a:r>
            <a:endParaRPr lang="en-US" sz="5100" dirty="0"/>
          </a:p>
        </p:txBody>
      </p:sp>
      <p:sp>
        <p:nvSpPr>
          <p:cNvPr id="5" name="Text 3"/>
          <p:cNvSpPr/>
          <p:nvPr/>
        </p:nvSpPr>
        <p:spPr>
          <a:xfrm>
            <a:off x="786384" y="3813048"/>
            <a:ext cx="10424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A8BB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 Foundry  ·  GPT-5-mini  ·  PowerShell  ·  Azure CLI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86384" y="4919472"/>
            <a:ext cx="1993392" cy="329184"/>
          </a:xfrm>
          <a:prstGeom prst="roundRect">
            <a:avLst>
              <a:gd name="adj" fmla="val 36111"/>
            </a:avLst>
          </a:prstGeom>
          <a:solidFill>
            <a:srgbClr val="142841"/>
          </a:solidFill>
          <a:ln w="12700">
            <a:solidFill>
              <a:srgbClr val="49E1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2104" y="4946904"/>
            <a:ext cx="19019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9E1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HUMAN-APPROVED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16936" y="4919472"/>
            <a:ext cx="1856232" cy="329184"/>
          </a:xfrm>
          <a:prstGeom prst="roundRect">
            <a:avLst>
              <a:gd name="adj" fmla="val 36111"/>
            </a:avLst>
          </a:prstGeom>
          <a:solidFill>
            <a:srgbClr val="142841"/>
          </a:solidFill>
          <a:ln w="12700">
            <a:solidFill>
              <a:srgbClr val="72E4B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62656" y="4946904"/>
            <a:ext cx="17647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2E4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AZURE-VERIFIED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86384" y="59893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End-to-end architecture | Live deployment evidence | Operational value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86384" y="6455664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8BB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10-SLIDE EXECUTIVE + TECHNICAL BRIEF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9E1D5"/>
          </a:solidFill>
          <a:ln w="12700">
            <a:solidFill>
              <a:srgbClr val="49E1D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83464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49E1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CLOUDGENIUS  /  AI AZURE ADMINISTRATOR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85216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business problem — and the control we demonstrated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03504" y="1307592"/>
            <a:ext cx="10058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spc="100" kern="0" dirty="0">
                <a:solidFill>
                  <a:srgbClr val="A8BB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/  EXECUTIVE SUMMARY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6428232"/>
            <a:ext cx="10972800" cy="0"/>
          </a:xfrm>
          <a:prstGeom prst="line">
            <a:avLst/>
          </a:prstGeom>
          <a:noFill/>
          <a:ln w="12700">
            <a:solidFill>
              <a:srgbClr val="2940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648766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8BB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Validated proof of concept  •  16 October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45952" y="646480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8BB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58368" y="1810512"/>
            <a:ext cx="3511296" cy="3172968"/>
          </a:xfrm>
          <a:prstGeom prst="roundRect">
            <a:avLst>
              <a:gd name="adj" fmla="val 3746"/>
            </a:avLst>
          </a:prstGeom>
          <a:solidFill>
            <a:srgbClr val="111F34"/>
          </a:solidFill>
          <a:ln w="12700">
            <a:solidFill>
              <a:srgbClr val="2940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10512"/>
            <a:ext cx="59436" cy="3172968"/>
          </a:xfrm>
          <a:prstGeom prst="rect">
            <a:avLst/>
          </a:prstGeom>
          <a:solidFill>
            <a:srgbClr val="FFC875"/>
          </a:solidFill>
          <a:ln w="12700">
            <a:solidFill>
              <a:srgbClr val="FFC8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1929384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RISK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314553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A8BB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AI suggestion is not an approved change. Natural-language outputs cannot prove that a cloud resource exists or meets security expectations.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334256" y="1810512"/>
            <a:ext cx="3511296" cy="3172968"/>
          </a:xfrm>
          <a:prstGeom prst="roundRect">
            <a:avLst>
              <a:gd name="adj" fmla="val 3746"/>
            </a:avLst>
          </a:prstGeom>
          <a:solidFill>
            <a:srgbClr val="111F34"/>
          </a:solidFill>
          <a:ln w="12700">
            <a:solidFill>
              <a:srgbClr val="2940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34256" y="1810512"/>
            <a:ext cx="59436" cy="3172968"/>
          </a:xfrm>
          <a:prstGeom prst="rect">
            <a:avLst/>
          </a:prstGeom>
          <a:solidFill>
            <a:srgbClr val="49E1D5"/>
          </a:solidFill>
          <a:ln w="12700">
            <a:solidFill>
              <a:srgbClr val="49E1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17136" y="1929384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CONTROL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517136" y="2395728"/>
            <a:ext cx="314553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A8BB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 returns a narrow function call. PowerShell validates parameters and blocks execution until an administrator explicitly approves.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010144" y="1810512"/>
            <a:ext cx="3511296" cy="3172968"/>
          </a:xfrm>
          <a:prstGeom prst="roundRect">
            <a:avLst>
              <a:gd name="adj" fmla="val 3746"/>
            </a:avLst>
          </a:prstGeom>
          <a:solidFill>
            <a:srgbClr val="111F34"/>
          </a:solidFill>
          <a:ln w="12700">
            <a:solidFill>
              <a:srgbClr val="29405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10144" y="1810512"/>
            <a:ext cx="59436" cy="3172968"/>
          </a:xfrm>
          <a:prstGeom prst="rect">
            <a:avLst/>
          </a:prstGeom>
          <a:solidFill>
            <a:srgbClr val="72E4B0"/>
          </a:solidFill>
          <a:ln w="12700">
            <a:solidFill>
              <a:srgbClr val="72E4B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93024" y="1929384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RESULT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193024" y="2395728"/>
            <a:ext cx="314553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A8BB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 creates secure Storage. A fresh Azure CLI query verifies the account properties before GPT presents the outcome.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22376" y="5413248"/>
            <a:ext cx="10789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principle: AI requests  →  Human authorizes  →  Azure executes  →  Code verifies.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9E1D5"/>
          </a:solidFill>
          <a:ln w="12700">
            <a:solidFill>
              <a:srgbClr val="49E1D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83464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49E1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CLOUDGENIUS  /  AI AZURE ADMINISTRATOR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85216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Azure architecture — as deployed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03504" y="1307592"/>
            <a:ext cx="10058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spc="100" kern="0" dirty="0">
                <a:solidFill>
                  <a:srgbClr val="A8BB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/  CONTROL PLANE, INFERENCE AND NETWORK BOUNDARIES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6428232"/>
            <a:ext cx="10972800" cy="0"/>
          </a:xfrm>
          <a:prstGeom prst="line">
            <a:avLst/>
          </a:prstGeom>
          <a:noFill/>
          <a:ln w="12700">
            <a:solidFill>
              <a:srgbClr val="2940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648766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8BB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Validated proof of concept  •  16 October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45952" y="646480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8BB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67512" y="1783080"/>
            <a:ext cx="2743200" cy="1051560"/>
          </a:xfrm>
          <a:prstGeom prst="roundRect">
            <a:avLst>
              <a:gd name="adj" fmla="val 11304"/>
            </a:avLst>
          </a:prstGeom>
          <a:solidFill>
            <a:srgbClr val="142841"/>
          </a:solidFill>
          <a:ln w="12700">
            <a:solidFill>
              <a:srgbClr val="2940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2104" y="1911096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ADMINISTRATOR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32104" y="2295144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8BB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Code • PowerShell • az login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99432" y="1783080"/>
            <a:ext cx="2944368" cy="1051560"/>
          </a:xfrm>
          <a:prstGeom prst="roundRect">
            <a:avLst>
              <a:gd name="adj" fmla="val 11304"/>
            </a:avLst>
          </a:prstGeom>
          <a:solidFill>
            <a:srgbClr val="142841"/>
          </a:solidFill>
          <a:ln w="12700">
            <a:solidFill>
              <a:srgbClr val="2940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82312" y="1911096"/>
            <a:ext cx="2514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 FOUNDRY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82312" y="2295144"/>
            <a:ext cx="25786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8BB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cgfoundry170463 • GPT-5-mini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714232" y="1783080"/>
            <a:ext cx="2807208" cy="1051560"/>
          </a:xfrm>
          <a:prstGeom prst="roundRect">
            <a:avLst>
              <a:gd name="adj" fmla="val 11304"/>
            </a:avLst>
          </a:prstGeom>
          <a:solidFill>
            <a:srgbClr val="142841"/>
          </a:solidFill>
          <a:ln w="12700">
            <a:solidFill>
              <a:srgbClr val="2940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87968" y="191109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 RESOURCE MANAGER</a:t>
            </a:r>
            <a:endParaRPr lang="en-US" sz="1380" dirty="0"/>
          </a:p>
        </p:txBody>
      </p:sp>
      <p:sp>
        <p:nvSpPr>
          <p:cNvPr id="17" name="Text 15"/>
          <p:cNvSpPr/>
          <p:nvPr/>
        </p:nvSpPr>
        <p:spPr>
          <a:xfrm>
            <a:off x="8887968" y="2295144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8BB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Microsoft.Storage • management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447288" y="2295144"/>
            <a:ext cx="1097280" cy="0"/>
          </a:xfrm>
          <a:prstGeom prst="line">
            <a:avLst/>
          </a:prstGeom>
          <a:noFill/>
          <a:ln w="27940">
            <a:solidFill>
              <a:srgbClr val="49E1D5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589520" y="2295144"/>
            <a:ext cx="1060704" cy="0"/>
          </a:xfrm>
          <a:prstGeom prst="line">
            <a:avLst/>
          </a:prstGeom>
          <a:noFill/>
          <a:ln w="27940">
            <a:solidFill>
              <a:srgbClr val="49E1D5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67512" y="3346704"/>
            <a:ext cx="5413248" cy="1618488"/>
          </a:xfrm>
          <a:prstGeom prst="roundRect">
            <a:avLst>
              <a:gd name="adj" fmla="val 7345"/>
            </a:avLst>
          </a:prstGeom>
          <a:solidFill>
            <a:srgbClr val="111F34"/>
          </a:solidFill>
          <a:ln w="12700">
            <a:solidFill>
              <a:srgbClr val="2940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9536" y="3529584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9E1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 FOUNDATION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68680" y="3941064"/>
            <a:ext cx="4937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rg-cloudgenius-ai-dev · eastus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vnet-cloudgenius-ai  10.50.0.0/16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snet-ai-private-endpoints  10.50.1.0/24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254496" y="3346704"/>
            <a:ext cx="5266944" cy="1618488"/>
          </a:xfrm>
          <a:prstGeom prst="roundRect">
            <a:avLst>
              <a:gd name="adj" fmla="val 7345"/>
            </a:avLst>
          </a:prstGeom>
          <a:solidFill>
            <a:srgbClr val="111F34"/>
          </a:solidFill>
          <a:ln w="12700">
            <a:solidFill>
              <a:srgbClr val="2940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37376" y="3529584"/>
            <a:ext cx="4864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2E4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STORAGE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437376" y="3941064"/>
            <a:ext cx="4800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cgaistore610655 · StorageV2 / Standard_LRS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networking disabled · Shared Key disabled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 / TLS 1.2 · No anonymous blob access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13232" y="5321808"/>
            <a:ext cx="10753344" cy="530352"/>
          </a:xfrm>
          <a:prstGeom prst="roundRect">
            <a:avLst>
              <a:gd name="adj" fmla="val 15517"/>
            </a:avLst>
          </a:prstGeom>
          <a:solidFill>
            <a:srgbClr val="222C38"/>
          </a:solidFill>
          <a:ln w="12700">
            <a:solidFill>
              <a:srgbClr val="946B4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6112" y="5422392"/>
            <a:ext cx="103510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C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DEPLOYED: Blob Private Endpoint, private DNS, data-plane connectivity or Blob RBAC.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9E1D5"/>
          </a:solidFill>
          <a:ln w="12700">
            <a:solidFill>
              <a:srgbClr val="49E1D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83464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49E1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CLOUDGENIUS  /  AI AZURE ADMINISTRATOR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85216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two-script solution — repeatable by design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03504" y="1307592"/>
            <a:ext cx="10058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spc="100" kern="0" dirty="0">
                <a:solidFill>
                  <a:srgbClr val="A8BB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/  WHAT USERS ACTUALLY RUN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6428232"/>
            <a:ext cx="10972800" cy="0"/>
          </a:xfrm>
          <a:prstGeom prst="line">
            <a:avLst/>
          </a:prstGeom>
          <a:noFill/>
          <a:ln w="12700">
            <a:solidFill>
              <a:srgbClr val="2940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648766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8BB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Validated proof of concept  •  16 October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45952" y="646480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8BB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1819656"/>
            <a:ext cx="5266944" cy="3310128"/>
          </a:xfrm>
          <a:prstGeom prst="roundRect">
            <a:avLst>
              <a:gd name="adj" fmla="val 3591"/>
            </a:avLst>
          </a:prstGeom>
          <a:solidFill>
            <a:srgbClr val="111F34"/>
          </a:solidFill>
          <a:ln w="12700">
            <a:solidFill>
              <a:srgbClr val="2940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819656"/>
            <a:ext cx="59436" cy="3310128"/>
          </a:xfrm>
          <a:prstGeom prst="rect">
            <a:avLst/>
          </a:prstGeom>
          <a:solidFill>
            <a:srgbClr val="66A7FF"/>
          </a:solidFill>
          <a:ln w="12700">
            <a:solidFill>
              <a:srgbClr val="66A7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38528"/>
            <a:ext cx="4910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SCRIPT 01  ·  FOUNDATION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68680" y="2404872"/>
            <a:ext cx="4901184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A8BB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and verify Azure subscription. Create/check resource group, VNet, subnet, AIServices Foundry account, project and GPT-5-mini deployment. Save a non-secret JSON environment configuration.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08776" y="1819656"/>
            <a:ext cx="5266944" cy="3310128"/>
          </a:xfrm>
          <a:prstGeom prst="roundRect">
            <a:avLst>
              <a:gd name="adj" fmla="val 3591"/>
            </a:avLst>
          </a:prstGeom>
          <a:solidFill>
            <a:srgbClr val="111F34"/>
          </a:solidFill>
          <a:ln w="12700">
            <a:solidFill>
              <a:srgbClr val="2940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08776" y="1819656"/>
            <a:ext cx="59436" cy="3310128"/>
          </a:xfrm>
          <a:prstGeom prst="rect">
            <a:avLst/>
          </a:prstGeom>
          <a:solidFill>
            <a:srgbClr val="72E4B0"/>
          </a:solidFill>
          <a:ln w="12700">
            <a:solidFill>
              <a:srgbClr val="72E4B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91656" y="1938528"/>
            <a:ext cx="4910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SCRIPT 02  ·  GPT + STORAGE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391656" y="2404872"/>
            <a:ext cx="4901184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A8BB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environment config. Call GPT with deploy_storage_account tool schema. Validate one exact call, require APPROVE, deploy fixed-policy StorageV2, verify eight conditions and return actual evidence to GPT.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95528" y="5477256"/>
            <a:ext cx="1335024" cy="329184"/>
          </a:xfrm>
          <a:prstGeom prst="roundRect">
            <a:avLst>
              <a:gd name="adj" fmla="val 36111"/>
            </a:avLst>
          </a:prstGeom>
          <a:solidFill>
            <a:srgbClr val="142841"/>
          </a:solidFill>
          <a:ln w="12700">
            <a:solidFill>
              <a:srgbClr val="66A7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5504688"/>
            <a:ext cx="12435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6A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 CLI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76856" y="5477256"/>
            <a:ext cx="1600200" cy="329184"/>
          </a:xfrm>
          <a:prstGeom prst="roundRect">
            <a:avLst>
              <a:gd name="adj" fmla="val 36111"/>
            </a:avLst>
          </a:prstGeom>
          <a:solidFill>
            <a:srgbClr val="142841"/>
          </a:solidFill>
          <a:ln w="12700">
            <a:solidFill>
              <a:srgbClr val="49E1D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22576" y="5504688"/>
            <a:ext cx="15087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9E1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POWERSHELL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023360" y="5477256"/>
            <a:ext cx="2798064" cy="329184"/>
          </a:xfrm>
          <a:prstGeom prst="roundRect">
            <a:avLst>
              <a:gd name="adj" fmla="val 36111"/>
            </a:avLst>
          </a:prstGeom>
          <a:solidFill>
            <a:srgbClr val="142841"/>
          </a:solidFill>
          <a:ln w="12700">
            <a:solidFill>
              <a:srgbClr val="72E4B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69080" y="5504688"/>
            <a:ext cx="27066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2E4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FOUNDRY RESPONSES API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68096" y="5989320"/>
            <a:ext cx="10881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A8BB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 source: github.com/globalcloudgenius/cloudgenius-ai-azure-administrator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9E1D5"/>
          </a:solidFill>
          <a:ln w="12700">
            <a:solidFill>
              <a:srgbClr val="49E1D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83464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49E1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CLOUDGENIUS  /  AI AZURE ADMINISTRATOR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85216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GPT created Storage — the precise sequence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03504" y="1307592"/>
            <a:ext cx="10058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spc="100" kern="0" dirty="0">
                <a:solidFill>
                  <a:srgbClr val="A8BB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 /  FUNCTION CALLING AND EXECUTION HANDOFF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6428232"/>
            <a:ext cx="10972800" cy="0"/>
          </a:xfrm>
          <a:prstGeom prst="line">
            <a:avLst/>
          </a:prstGeom>
          <a:noFill/>
          <a:ln w="12700">
            <a:solidFill>
              <a:srgbClr val="2940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648766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8BB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Validated proof of concept  •  16 October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45952" y="646480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8BB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94944" y="1737360"/>
            <a:ext cx="10799064" cy="484632"/>
          </a:xfrm>
          <a:prstGeom prst="roundRect">
            <a:avLst>
              <a:gd name="adj" fmla="val 13208"/>
            </a:avLst>
          </a:prstGeom>
          <a:solidFill>
            <a:srgbClr val="111F34"/>
          </a:solidFill>
          <a:ln w="12700">
            <a:solidFill>
              <a:srgbClr val="2940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2104" y="1792224"/>
            <a:ext cx="3474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9E1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35024" y="1801368"/>
            <a:ext cx="2048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PowerShell prepares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74136" y="1792224"/>
            <a:ext cx="78455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A8BB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cgaistore610655 candidate; load Foundry configuration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94944" y="2304288"/>
            <a:ext cx="10799064" cy="484632"/>
          </a:xfrm>
          <a:prstGeom prst="roundRect">
            <a:avLst>
              <a:gd name="adj" fmla="val 13208"/>
            </a:avLst>
          </a:prstGeom>
          <a:solidFill>
            <a:srgbClr val="111F34"/>
          </a:solidFill>
          <a:ln w="12700">
            <a:solidFill>
              <a:srgbClr val="2940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" y="2359152"/>
            <a:ext cx="3474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9E1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35024" y="2368296"/>
            <a:ext cx="2048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 requests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74136" y="2359152"/>
            <a:ext cx="78455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A8BB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 function_call deploy_storage_account + storage_name + call_id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94944" y="2871216"/>
            <a:ext cx="10799064" cy="484632"/>
          </a:xfrm>
          <a:prstGeom prst="roundRect">
            <a:avLst>
              <a:gd name="adj" fmla="val 13208"/>
            </a:avLst>
          </a:prstGeom>
          <a:solidFill>
            <a:srgbClr val="111F34"/>
          </a:solidFill>
          <a:ln w="12700">
            <a:solidFill>
              <a:srgbClr val="2940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" y="2926080"/>
            <a:ext cx="3474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9E1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35024" y="2935224"/>
            <a:ext cx="2048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Executor validates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374136" y="2926080"/>
            <a:ext cx="78455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A8BB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Exact-name check; verify no existing account and global availability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94944" y="3438144"/>
            <a:ext cx="10799064" cy="484632"/>
          </a:xfrm>
          <a:prstGeom prst="roundRect">
            <a:avLst>
              <a:gd name="adj" fmla="val 13208"/>
            </a:avLst>
          </a:prstGeom>
          <a:solidFill>
            <a:srgbClr val="111F34"/>
          </a:solidFill>
          <a:ln w="12700">
            <a:solidFill>
              <a:srgbClr val="2940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2104" y="3493008"/>
            <a:ext cx="3474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9E1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35024" y="3502152"/>
            <a:ext cx="2048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approves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374136" y="3493008"/>
            <a:ext cx="78455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A8BB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Operator reviews fixed security policy and types APPROVE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94944" y="4005072"/>
            <a:ext cx="10799064" cy="484632"/>
          </a:xfrm>
          <a:prstGeom prst="roundRect">
            <a:avLst>
              <a:gd name="adj" fmla="val 13208"/>
            </a:avLst>
          </a:prstGeom>
          <a:solidFill>
            <a:srgbClr val="111F34"/>
          </a:solidFill>
          <a:ln w="12700">
            <a:solidFill>
              <a:srgbClr val="2940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2104" y="4059936"/>
            <a:ext cx="3474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9E1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335024" y="4069080"/>
            <a:ext cx="2048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 provisions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374136" y="4059936"/>
            <a:ext cx="78455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A8BB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PowerShell runs az storage account create as signed-in operator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94944" y="4572000"/>
            <a:ext cx="10799064" cy="484632"/>
          </a:xfrm>
          <a:prstGeom prst="roundRect">
            <a:avLst>
              <a:gd name="adj" fmla="val 13208"/>
            </a:avLst>
          </a:prstGeom>
          <a:solidFill>
            <a:srgbClr val="111F34"/>
          </a:solidFill>
          <a:ln w="12700">
            <a:solidFill>
              <a:srgbClr val="29405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2104" y="4626864"/>
            <a:ext cx="3474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9E1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335024" y="4636008"/>
            <a:ext cx="2048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 verifies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374136" y="4626864"/>
            <a:ext cx="78455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A8BB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Query fresh resource state; compare security, SKU and provisioning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694944" y="5138928"/>
            <a:ext cx="10799064" cy="484632"/>
          </a:xfrm>
          <a:prstGeom prst="roundRect">
            <a:avLst>
              <a:gd name="adj" fmla="val 13208"/>
            </a:avLst>
          </a:prstGeom>
          <a:solidFill>
            <a:srgbClr val="153A34"/>
          </a:solidFill>
          <a:ln w="12700">
            <a:solidFill>
              <a:srgbClr val="3377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2104" y="5193792"/>
            <a:ext cx="3474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9E1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335024" y="5202936"/>
            <a:ext cx="2048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 reports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374136" y="5193792"/>
            <a:ext cx="78455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A8BB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Send matching function_call_output with verified Azure results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786384" y="5961888"/>
            <a:ext cx="10652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C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 did not possess Azure credentials or execute Azure CLI. Its function call was a proposal, not an Azure action.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9E1D5"/>
          </a:solidFill>
          <a:ln w="12700">
            <a:solidFill>
              <a:srgbClr val="49E1D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83464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49E1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CLOUDGENIUS  /  AI AZURE ADMINISTRATOR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85216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is enforced by PowerShell — then verified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03504" y="1307592"/>
            <a:ext cx="10058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spc="100" kern="0" dirty="0">
                <a:solidFill>
                  <a:srgbClr val="A8BB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 /  ACTUAL STORAGE ACCOUNT RESULT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6428232"/>
            <a:ext cx="10972800" cy="0"/>
          </a:xfrm>
          <a:prstGeom prst="line">
            <a:avLst/>
          </a:prstGeom>
          <a:noFill/>
          <a:ln w="12700">
            <a:solidFill>
              <a:srgbClr val="2940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648766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8BB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Validated proof of concept  •  16 October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45952" y="646480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8BB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22376" y="1819656"/>
            <a:ext cx="5349240" cy="749808"/>
          </a:xfrm>
          <a:prstGeom prst="roundRect">
            <a:avLst>
              <a:gd name="adj" fmla="val 15854"/>
            </a:avLst>
          </a:prstGeom>
          <a:solidFill>
            <a:srgbClr val="111F34"/>
          </a:solidFill>
          <a:ln w="12700">
            <a:solidFill>
              <a:srgbClr val="2940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5256" y="1911096"/>
            <a:ext cx="3072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8BB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Provisioning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931920" y="1911096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72E4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Succeeded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27648" y="1819656"/>
            <a:ext cx="5349240" cy="749808"/>
          </a:xfrm>
          <a:prstGeom prst="roundRect">
            <a:avLst>
              <a:gd name="adj" fmla="val 15854"/>
            </a:avLst>
          </a:prstGeom>
          <a:solidFill>
            <a:srgbClr val="111F34"/>
          </a:solidFill>
          <a:ln w="12700">
            <a:solidFill>
              <a:srgbClr val="2940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10528" y="1911096"/>
            <a:ext cx="3072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8BB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 only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537192" y="1911096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72E4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22376" y="2743200"/>
            <a:ext cx="5349240" cy="749808"/>
          </a:xfrm>
          <a:prstGeom prst="roundRect">
            <a:avLst>
              <a:gd name="adj" fmla="val 15854"/>
            </a:avLst>
          </a:prstGeom>
          <a:solidFill>
            <a:srgbClr val="111F34"/>
          </a:solidFill>
          <a:ln w="12700">
            <a:solidFill>
              <a:srgbClr val="2940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5256" y="2834640"/>
            <a:ext cx="3072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8BB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Minimum TLS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931920" y="28346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72E4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TLS1_2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327648" y="2743200"/>
            <a:ext cx="5349240" cy="749808"/>
          </a:xfrm>
          <a:prstGeom prst="roundRect">
            <a:avLst>
              <a:gd name="adj" fmla="val 15854"/>
            </a:avLst>
          </a:prstGeom>
          <a:solidFill>
            <a:srgbClr val="111F34"/>
          </a:solidFill>
          <a:ln w="12700">
            <a:solidFill>
              <a:srgbClr val="2940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10528" y="2834640"/>
            <a:ext cx="3072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8BB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Anonymous blob access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537192" y="28346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72E4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False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22376" y="3666744"/>
            <a:ext cx="5349240" cy="749808"/>
          </a:xfrm>
          <a:prstGeom prst="roundRect">
            <a:avLst>
              <a:gd name="adj" fmla="val 15854"/>
            </a:avLst>
          </a:prstGeom>
          <a:solidFill>
            <a:srgbClr val="111F34"/>
          </a:solidFill>
          <a:ln w="12700">
            <a:solidFill>
              <a:srgbClr val="2940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5256" y="3758184"/>
            <a:ext cx="3072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8BB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network access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931920" y="3758184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72E4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Disabled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27648" y="3666744"/>
            <a:ext cx="5349240" cy="749808"/>
          </a:xfrm>
          <a:prstGeom prst="roundRect">
            <a:avLst>
              <a:gd name="adj" fmla="val 15854"/>
            </a:avLst>
          </a:prstGeom>
          <a:solidFill>
            <a:srgbClr val="111F34"/>
          </a:solidFill>
          <a:ln w="12700">
            <a:solidFill>
              <a:srgbClr val="2940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10528" y="3758184"/>
            <a:ext cx="3072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8BB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Key access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537192" y="3758184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72E4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False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22376" y="4590288"/>
            <a:ext cx="5349240" cy="749808"/>
          </a:xfrm>
          <a:prstGeom prst="roundRect">
            <a:avLst>
              <a:gd name="adj" fmla="val 15854"/>
            </a:avLst>
          </a:prstGeom>
          <a:solidFill>
            <a:srgbClr val="111F34"/>
          </a:solidFill>
          <a:ln w="12700">
            <a:solidFill>
              <a:srgbClr val="2940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5256" y="4681728"/>
            <a:ext cx="3072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8BB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Kind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931920" y="468172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72E4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StorageV2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27648" y="4590288"/>
            <a:ext cx="5349240" cy="749808"/>
          </a:xfrm>
          <a:prstGeom prst="roundRect">
            <a:avLst>
              <a:gd name="adj" fmla="val 15854"/>
            </a:avLst>
          </a:prstGeom>
          <a:solidFill>
            <a:srgbClr val="111F34"/>
          </a:solidFill>
          <a:ln w="12700">
            <a:solidFill>
              <a:srgbClr val="29405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4681728"/>
            <a:ext cx="3072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8BB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SKU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537192" y="468172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72E4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Standard_LRS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77240" y="587959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9E1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of truth: az storage account show and eight explicit comparisons—not GPT-generated prose.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9E1D5"/>
          </a:solidFill>
          <a:ln w="12700">
            <a:solidFill>
              <a:srgbClr val="49E1D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83464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49E1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CLOUDGENIUS  /  AI AZURE ADMINISTRATOR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85216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SOP — gates, evidence and failure paths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03504" y="1307592"/>
            <a:ext cx="10058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spc="100" kern="0" dirty="0">
                <a:solidFill>
                  <a:srgbClr val="A8BB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 /  SOP-CG-AI-001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6428232"/>
            <a:ext cx="10972800" cy="0"/>
          </a:xfrm>
          <a:prstGeom prst="line">
            <a:avLst/>
          </a:prstGeom>
          <a:noFill/>
          <a:ln w="12700">
            <a:solidFill>
              <a:srgbClr val="2940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648766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8BB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Validated proof of concept  •  16 October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45952" y="646480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8BB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58952" y="1792224"/>
            <a:ext cx="1499616" cy="329184"/>
          </a:xfrm>
          <a:prstGeom prst="roundRect">
            <a:avLst>
              <a:gd name="adj" fmla="val 36111"/>
            </a:avLst>
          </a:prstGeom>
          <a:solidFill>
            <a:srgbClr val="142841"/>
          </a:solidFill>
          <a:ln w="12700">
            <a:solidFill>
              <a:srgbClr val="66A7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1819656"/>
            <a:ext cx="1408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6A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68880" y="1783080"/>
            <a:ext cx="8805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8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 subscription, permissions, region/model quota, costs and CIDR scope</a:t>
            </a:r>
            <a:endParaRPr lang="en-US" sz="1580" dirty="0"/>
          </a:p>
        </p:txBody>
      </p:sp>
      <p:sp>
        <p:nvSpPr>
          <p:cNvPr id="12" name="Shape 10"/>
          <p:cNvSpPr/>
          <p:nvPr/>
        </p:nvSpPr>
        <p:spPr>
          <a:xfrm>
            <a:off x="758952" y="2459736"/>
            <a:ext cx="1499616" cy="329184"/>
          </a:xfrm>
          <a:prstGeom prst="roundRect">
            <a:avLst>
              <a:gd name="adj" fmla="val 36111"/>
            </a:avLst>
          </a:prstGeom>
          <a:solidFill>
            <a:srgbClr val="142841"/>
          </a:solidFill>
          <a:ln w="12700">
            <a:solidFill>
              <a:srgbClr val="66A7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2487168"/>
            <a:ext cx="1408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6A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68880" y="2450592"/>
            <a:ext cx="8805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8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Script 1; stop if resource or model verification fails</a:t>
            </a:r>
            <a:endParaRPr lang="en-US" sz="1580" dirty="0"/>
          </a:p>
        </p:txBody>
      </p:sp>
      <p:sp>
        <p:nvSpPr>
          <p:cNvPr id="15" name="Shape 13"/>
          <p:cNvSpPr/>
          <p:nvPr/>
        </p:nvSpPr>
        <p:spPr>
          <a:xfrm>
            <a:off x="758952" y="3127248"/>
            <a:ext cx="1499616" cy="329184"/>
          </a:xfrm>
          <a:prstGeom prst="roundRect">
            <a:avLst>
              <a:gd name="adj" fmla="val 36111"/>
            </a:avLst>
          </a:prstGeom>
          <a:solidFill>
            <a:srgbClr val="142841"/>
          </a:solidFill>
          <a:ln w="12700">
            <a:solidFill>
              <a:srgbClr val="66A7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3154680"/>
            <a:ext cx="1408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6A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468880" y="3118104"/>
            <a:ext cx="8805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8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Script 2; accept exactly one valid model function call</a:t>
            </a:r>
            <a:endParaRPr lang="en-US" sz="1580" dirty="0"/>
          </a:p>
        </p:txBody>
      </p:sp>
      <p:sp>
        <p:nvSpPr>
          <p:cNvPr id="18" name="Shape 16"/>
          <p:cNvSpPr/>
          <p:nvPr/>
        </p:nvSpPr>
        <p:spPr>
          <a:xfrm>
            <a:off x="758952" y="3794760"/>
            <a:ext cx="1499616" cy="329184"/>
          </a:xfrm>
          <a:prstGeom prst="roundRect">
            <a:avLst>
              <a:gd name="adj" fmla="val 36111"/>
            </a:avLst>
          </a:prstGeom>
          <a:solidFill>
            <a:srgbClr val="142841"/>
          </a:solidFill>
          <a:ln w="12700">
            <a:solidFill>
              <a:srgbClr val="66A7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3822192"/>
            <a:ext cx="1408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6A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468880" y="3785616"/>
            <a:ext cx="8805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8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named Azure target and immutable flags; enter APPROVE</a:t>
            </a:r>
            <a:endParaRPr lang="en-US" sz="1580" dirty="0"/>
          </a:p>
        </p:txBody>
      </p:sp>
      <p:sp>
        <p:nvSpPr>
          <p:cNvPr id="21" name="Shape 19"/>
          <p:cNvSpPr/>
          <p:nvPr/>
        </p:nvSpPr>
        <p:spPr>
          <a:xfrm>
            <a:off x="758952" y="4462272"/>
            <a:ext cx="1499616" cy="329184"/>
          </a:xfrm>
          <a:prstGeom prst="roundRect">
            <a:avLst>
              <a:gd name="adj" fmla="val 36111"/>
            </a:avLst>
          </a:prstGeom>
          <a:solidFill>
            <a:srgbClr val="142841"/>
          </a:solidFill>
          <a:ln w="12700">
            <a:solidFill>
              <a:srgbClr val="66A7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4489704"/>
            <a:ext cx="1408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6A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468880" y="4453128"/>
            <a:ext cx="8805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8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 actual Azure provisioning and eight required resource settings</a:t>
            </a:r>
            <a:endParaRPr lang="en-US" sz="1580" dirty="0"/>
          </a:p>
        </p:txBody>
      </p:sp>
      <p:sp>
        <p:nvSpPr>
          <p:cNvPr id="24" name="Shape 22"/>
          <p:cNvSpPr/>
          <p:nvPr/>
        </p:nvSpPr>
        <p:spPr>
          <a:xfrm>
            <a:off x="758952" y="5129784"/>
            <a:ext cx="1499616" cy="329184"/>
          </a:xfrm>
          <a:prstGeom prst="roundRect">
            <a:avLst>
              <a:gd name="adj" fmla="val 36111"/>
            </a:avLst>
          </a:prstGeom>
          <a:solidFill>
            <a:srgbClr val="142841"/>
          </a:solidFill>
          <a:ln w="12700">
            <a:solidFill>
              <a:srgbClr val="72E4B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" y="5157216"/>
            <a:ext cx="1408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2E4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468880" y="5120640"/>
            <a:ext cx="8805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8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operator, resource ID, approval, verification and residual risks</a:t>
            </a:r>
            <a:endParaRPr lang="en-US" sz="1580" dirty="0"/>
          </a:p>
        </p:txBody>
      </p:sp>
      <p:sp>
        <p:nvSpPr>
          <p:cNvPr id="27" name="Shape 25"/>
          <p:cNvSpPr/>
          <p:nvPr/>
        </p:nvSpPr>
        <p:spPr>
          <a:xfrm>
            <a:off x="731520" y="5925312"/>
            <a:ext cx="10652760" cy="320040"/>
          </a:xfrm>
          <a:prstGeom prst="roundRect">
            <a:avLst>
              <a:gd name="adj" fmla="val 22857"/>
            </a:avLst>
          </a:prstGeom>
          <a:solidFill>
            <a:srgbClr val="2B2830"/>
          </a:solidFill>
          <a:ln w="12700">
            <a:solidFill>
              <a:srgbClr val="745F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6112" y="5952744"/>
            <a:ext cx="10351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FFC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Failure rule: if Azure creation succeeds but GPT reporting fails, do not rerun Script 2 just to get a report.</a:t>
            </a:r>
            <a:endParaRPr lang="en-US" sz="12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9E1D5"/>
          </a:solidFill>
          <a:ln w="12700">
            <a:solidFill>
              <a:srgbClr val="49E1D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83464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49E1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CLOUDGENIUS  /  AI AZURE ADMINISTRATOR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85216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matters — practical, defensible benefits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03504" y="1307592"/>
            <a:ext cx="10058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spc="100" kern="0" dirty="0">
                <a:solidFill>
                  <a:srgbClr val="A8BB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 /  CLOUD OPERATIONS AND SECURITY VALUE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6428232"/>
            <a:ext cx="10972800" cy="0"/>
          </a:xfrm>
          <a:prstGeom prst="line">
            <a:avLst/>
          </a:prstGeom>
          <a:noFill/>
          <a:ln w="12700">
            <a:solidFill>
              <a:srgbClr val="2940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648766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8BB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Validated proof of concept  •  16 October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45952" y="646480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8BB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94944" y="1810512"/>
            <a:ext cx="3502152" cy="3145536"/>
          </a:xfrm>
          <a:prstGeom prst="roundRect">
            <a:avLst>
              <a:gd name="adj" fmla="val 3779"/>
            </a:avLst>
          </a:prstGeom>
          <a:solidFill>
            <a:srgbClr val="111F34"/>
          </a:solidFill>
          <a:ln w="12700">
            <a:solidFill>
              <a:srgbClr val="2940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4944" y="1810512"/>
            <a:ext cx="59436" cy="3145536"/>
          </a:xfrm>
          <a:prstGeom prst="rect">
            <a:avLst/>
          </a:prstGeom>
          <a:solidFill>
            <a:srgbClr val="72E4B0"/>
          </a:solidFill>
          <a:ln w="12700">
            <a:solidFill>
              <a:srgbClr val="72E4B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1929384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EXECUTION RISK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77824" y="2395728"/>
            <a:ext cx="3136392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A8BB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cannot inject arbitrary deployment flags. The executor allows only the approved name and security configuration.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352544" y="1810512"/>
            <a:ext cx="3502152" cy="3145536"/>
          </a:xfrm>
          <a:prstGeom prst="roundRect">
            <a:avLst>
              <a:gd name="adj" fmla="val 3779"/>
            </a:avLst>
          </a:prstGeom>
          <a:solidFill>
            <a:srgbClr val="111F34"/>
          </a:solidFill>
          <a:ln w="12700">
            <a:solidFill>
              <a:srgbClr val="2940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52544" y="1810512"/>
            <a:ext cx="59436" cy="3145536"/>
          </a:xfrm>
          <a:prstGeom prst="rect">
            <a:avLst/>
          </a:prstGeom>
          <a:solidFill>
            <a:srgbClr val="49E1D5"/>
          </a:solidFill>
          <a:ln w="12700">
            <a:solidFill>
              <a:srgbClr val="49E1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35424" y="1929384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EXPLAINABLE AUTOMATION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535424" y="2395728"/>
            <a:ext cx="3136392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A8BB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stage is teachable and testable: tool declaration, model request, approval, CLI action, verification and reporting.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019288" y="1810512"/>
            <a:ext cx="3502152" cy="3145536"/>
          </a:xfrm>
          <a:prstGeom prst="roundRect">
            <a:avLst>
              <a:gd name="adj" fmla="val 3779"/>
            </a:avLst>
          </a:prstGeom>
          <a:solidFill>
            <a:srgbClr val="111F34"/>
          </a:solidFill>
          <a:ln w="12700">
            <a:solidFill>
              <a:srgbClr val="29405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19288" y="1810512"/>
            <a:ext cx="59436" cy="3145536"/>
          </a:xfrm>
          <a:prstGeom prst="rect">
            <a:avLst/>
          </a:prstGeom>
          <a:solidFill>
            <a:srgbClr val="66A7FF"/>
          </a:solidFill>
          <a:ln w="12700">
            <a:solidFill>
              <a:srgbClr val="66A7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02168" y="1929384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TECH LAB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202168" y="2395728"/>
            <a:ext cx="3136392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A8BB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Other engineers can clone the repository, configure their own Azure subscription and reproduce the two-script workflow.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" y="5504688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8BB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Evidence-backed value: gated change execution and verified defaults. Cost savings and speed improvements were not measured.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9E1D5"/>
          </a:solidFill>
          <a:ln w="12700">
            <a:solidFill>
              <a:srgbClr val="49E1D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83464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49E1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CLOUDGENIUS  /  AI AZURE ADMINISTRATOR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85216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readiness — what still needs engineering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03504" y="1307592"/>
            <a:ext cx="10058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spc="100" kern="0" dirty="0">
                <a:solidFill>
                  <a:srgbClr val="A8BB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 /  CLEARLY DISTINGUISHED FROM THE CURRENT POC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6428232"/>
            <a:ext cx="10972800" cy="0"/>
          </a:xfrm>
          <a:prstGeom prst="line">
            <a:avLst/>
          </a:prstGeom>
          <a:noFill/>
          <a:ln w="12700">
            <a:solidFill>
              <a:srgbClr val="2940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648766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8BB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Validated proof of concept  •  16 October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45952" y="646480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8BB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49808" y="1856232"/>
            <a:ext cx="10707624" cy="749808"/>
          </a:xfrm>
          <a:prstGeom prst="roundRect">
            <a:avLst>
              <a:gd name="adj" fmla="val 15854"/>
            </a:avLst>
          </a:prstGeom>
          <a:solidFill>
            <a:srgbClr val="111F34"/>
          </a:solidFill>
          <a:ln w="12700">
            <a:solidFill>
              <a:srgbClr val="2940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1975104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C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 IDENTITY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703320" y="1956816"/>
            <a:ext cx="7479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Dedicated Azure-hosted executor + least-privilege managed identity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49808" y="2779776"/>
            <a:ext cx="10707624" cy="749808"/>
          </a:xfrm>
          <a:prstGeom prst="roundRect">
            <a:avLst>
              <a:gd name="adj" fmla="val 15854"/>
            </a:avLst>
          </a:prstGeom>
          <a:solidFill>
            <a:srgbClr val="111F34"/>
          </a:solidFill>
          <a:ln w="12700">
            <a:solidFill>
              <a:srgbClr val="2940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289864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C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CONNECTIVITY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03320" y="2880360"/>
            <a:ext cx="7479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Blob Private Endpoint, private DNS, VNet test client and Blob Data RBAC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49808" y="3703320"/>
            <a:ext cx="10707624" cy="749808"/>
          </a:xfrm>
          <a:prstGeom prst="roundRect">
            <a:avLst>
              <a:gd name="adj" fmla="val 15854"/>
            </a:avLst>
          </a:prstGeom>
          <a:solidFill>
            <a:srgbClr val="111F34"/>
          </a:solidFill>
          <a:ln w="12700">
            <a:solidFill>
              <a:srgbClr val="2940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" y="382219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C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703320" y="3803904"/>
            <a:ext cx="7479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Durable approvals, trace IDs, Azure Policy and centralized logging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49808" y="4626864"/>
            <a:ext cx="10707624" cy="749808"/>
          </a:xfrm>
          <a:prstGeom prst="roundRect">
            <a:avLst>
              <a:gd name="adj" fmla="val 15854"/>
            </a:avLst>
          </a:prstGeom>
          <a:solidFill>
            <a:srgbClr val="111F34"/>
          </a:solidFill>
          <a:ln w="12700">
            <a:solidFill>
              <a:srgbClr val="2940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0976" y="474573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C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RELIABILITY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703320" y="4727448"/>
            <a:ext cx="7479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Idempotency, drift checks, remediation strategy and spending limits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04672" y="5897880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A8BB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hosted Foundry Agent Service agent and no automated rollback exist in the current implementation.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9E1D5"/>
          </a:solidFill>
          <a:ln w="12700">
            <a:solidFill>
              <a:srgbClr val="49E1D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83464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49E1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CLOUDGENIUS  /  AI AZURE ADMINISTRATOR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85216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Reproduce the demo — and explore the full SOP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03504" y="1307592"/>
            <a:ext cx="10058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spc="100" kern="0" dirty="0">
                <a:solidFill>
                  <a:srgbClr val="A8BB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 /  GITHUB RUNBOOK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6428232"/>
            <a:ext cx="10972800" cy="0"/>
          </a:xfrm>
          <a:prstGeom prst="line">
            <a:avLst/>
          </a:prstGeom>
          <a:noFill/>
          <a:ln w="12700">
            <a:solidFill>
              <a:srgbClr val="2940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648766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8BB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Validated proof of concept  •  16 October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45952" y="646480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8BB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1801368"/>
            <a:ext cx="10817352" cy="2706624"/>
          </a:xfrm>
          <a:prstGeom prst="roundRect">
            <a:avLst>
              <a:gd name="adj" fmla="val 4392"/>
            </a:avLst>
          </a:prstGeom>
          <a:solidFill>
            <a:srgbClr val="06101C"/>
          </a:solidFill>
          <a:ln w="12700">
            <a:solidFill>
              <a:srgbClr val="2940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1984248"/>
            <a:ext cx="10195560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CBE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https://github.com/globalcloudgenius/cloudgenius-ai-azure-administrator.git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CBE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cloudgenius-ai-azure-administrator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CBE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 login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CBE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Set your own $SubscriptionId in Script 1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CBE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 ".\scripts\01-Deploy-CloudGeniusFoundry.ps1"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CBE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 ".\scripts\02-GPT-Deploy-SecureStorage.ps1"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77240" y="50292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7F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 requests.  Humans authorize.  Azure executes and verifies.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77240" y="5833872"/>
            <a:ext cx="10744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9E1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code + SOP + as-built diagrams: github.com/globalcloudgenius/cloudgenius-ai-azure-administrator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CloudGenius AI Azure Administrator | Executive Technical Brief</dc:title>
  <dc:subject>Verified Microsoft Foundry GPT function calling, human-approved Azure automation</dc:subject>
  <dc:creator>CloudGenius</dc:creator>
  <cp:lastModifiedBy>CloudGenius</cp:lastModifiedBy>
  <cp:revision>1</cp:revision>
  <dcterms:created xsi:type="dcterms:W3CDTF">2026-10-16T09:20:03Z</dcterms:created>
  <dcterms:modified xsi:type="dcterms:W3CDTF">2026-10-16T09:20:03Z</dcterms:modified>
</cp:coreProperties>
</file>